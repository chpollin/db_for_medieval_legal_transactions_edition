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73" r:id="rId2"/>
    <p:sldId id="274" r:id="rId3"/>
    <p:sldId id="275" r:id="rId4"/>
    <p:sldId id="276" r:id="rId5"/>
    <p:sldId id="278" r:id="rId6"/>
    <p:sldId id="279" r:id="rId7"/>
    <p:sldId id="280" r:id="rId8"/>
    <p:sldId id="282" r:id="rId9"/>
    <p:sldId id="281" r:id="rId10"/>
    <p:sldId id="284" r:id="rId11"/>
    <p:sldId id="285" r:id="rId12"/>
    <p:sldId id="286" r:id="rId13"/>
  </p:sldIdLst>
  <p:sldSz cx="12192000" cy="6858000"/>
  <p:notesSz cx="6858000" cy="9144000"/>
  <p:defaultTextStyle>
    <a:defPPr>
      <a:defRPr lang="en-A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29"/>
    <p:restoredTop sz="94649"/>
  </p:normalViewPr>
  <p:slideViewPr>
    <p:cSldViewPr snapToGrid="0" showGuides="1">
      <p:cViewPr>
        <p:scale>
          <a:sx n="91" d="100"/>
          <a:sy n="91" d="100"/>
        </p:scale>
        <p:origin x="1528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4D2CCE-6F50-BC48-9103-C404ECDBF3E1}" type="datetimeFigureOut">
              <a:rPr lang="de-AT" smtClean="0"/>
              <a:t>25.04.26</a:t>
            </a:fld>
            <a:endParaRPr lang="de-A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AFE8D0-55EB-9844-BE44-9F4FC5E35F9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13078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FE8D0-55EB-9844-BE44-9F4FC5E35F9F}" type="slidenum">
              <a:rPr lang="de-AT" smtClean="0"/>
              <a:t>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93704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5AAED-C14A-4F07-D209-95AB6AD9F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1D6AD5-49B8-49A1-0470-3866ED7703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7A5189-95FA-3341-784E-C80D874EE3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AAD189-8F30-9BBD-9A02-4D0F68DC91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FE8D0-55EB-9844-BE44-9F4FC5E35F9F}" type="slidenum">
              <a:rPr lang="de-AT" smtClean="0"/>
              <a:t>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420568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F0816-F358-DDBB-8658-EF8CBDA12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96E2F4-B6C4-9C51-6750-51B2552C82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332B0E-5744-9197-2D64-F60E71C406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D83B0B-5836-B2A3-D718-0B15ABF08B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FE8D0-55EB-9844-BE44-9F4FC5E35F9F}" type="slidenum">
              <a:rPr lang="de-AT" smtClean="0"/>
              <a:t>7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489355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43FA7-9DC5-ED6D-0EB5-57D858090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F65339-FFDF-C1F6-5BF8-EC3C71824E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158253-A074-EBEC-B7CA-1067E978E8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A4A66-BA54-BAA6-8F98-C1E546CAFB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FE8D0-55EB-9844-BE44-9F4FC5E35F9F}" type="slidenum">
              <a:rPr lang="de-AT" smtClean="0"/>
              <a:t>8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038574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F3A42-B630-4384-0154-6A6505E1E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B0D0E0-B3F4-427A-1B34-29B4B2D8E3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A9AA1C-42A0-7AA4-5903-2970E34327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4A19F6-AC04-4945-CEF3-1DE8F63793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FE8D0-55EB-9844-BE44-9F4FC5E35F9F}" type="slidenum">
              <a:rPr lang="de-AT" smtClean="0"/>
              <a:t>9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990810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16F02-0F5A-D54B-DA8C-A419CD468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65A470-F502-5A78-E75C-6FFC477A59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8FF3A2-FDE0-EE2D-4F40-23F9FB4D84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9FE9E-F710-7FB1-B9AD-515EA3AA0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FE8D0-55EB-9844-BE44-9F4FC5E35F9F}" type="slidenum">
              <a:rPr lang="de-AT" smtClean="0"/>
              <a:t>10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401573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2764F-0A26-73B6-73A1-D8FD0AD49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9E5737-F726-2CFC-5D0C-AE6C0FDAE4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09CFE6-60A7-0EFE-13FF-E60053BBB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0C2B68-583F-3740-C7F5-235E92F75A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FE8D0-55EB-9844-BE44-9F4FC5E35F9F}" type="slidenum">
              <a:rPr lang="de-AT" smtClean="0"/>
              <a:t>11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342889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0A0E5-3908-313A-AC04-158EEA13F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A44580-8C8B-2A91-1F23-CFCB030A84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43321B-560F-27F1-09B3-683E283360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E135B-D54A-3AC0-9542-4B1442F9B4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FE8D0-55EB-9844-BE44-9F4FC5E35F9F}" type="slidenum">
              <a:rPr lang="de-AT" smtClean="0"/>
              <a:t>12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54867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1FA18-463C-04BB-19BB-651E5C5C9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AC9435-9B9A-4449-1F34-E89ADB2073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51670-F759-BCE3-B58C-10DCF111F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DFEF5-D9AF-684F-9284-2048DA078B9E}" type="datetimeFigureOut">
              <a:rPr lang="de-AT" smtClean="0"/>
              <a:t>25.04.26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28149-85EB-6001-7BA4-895DB4C5E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371B4-E5F5-BFE4-6D4E-FF89B2DCC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9939F-5E05-804A-AD0E-0E58DE276D6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13339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014D5-76BB-0EC0-CAC3-32CE2AAEA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862B3-1DA5-6E1A-92BB-6E8E26496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CC511-BFCA-9F68-B033-49B78D754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DFEF5-D9AF-684F-9284-2048DA078B9E}" type="datetimeFigureOut">
              <a:rPr lang="de-AT" smtClean="0"/>
              <a:t>25.04.26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3B0DB-8BFD-0078-CCA6-5FEF7ADCF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4EB7C-1AB5-E484-0EE1-F1902B278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9939F-5E05-804A-AD0E-0E58DE276D6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7193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CD38A-C6A6-9A4B-16E5-B3582F42E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280DB6-E1BF-190A-B818-C3256EA73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886DD-3D29-D115-32B1-F1268E111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DFEF5-D9AF-684F-9284-2048DA078B9E}" type="datetimeFigureOut">
              <a:rPr lang="de-AT" smtClean="0"/>
              <a:t>25.04.26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538F4-303B-A864-A016-2075C6150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73E0A-BFEF-FBD1-6038-775726BAC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9939F-5E05-804A-AD0E-0E58DE276D6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26892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AAE5F-1238-19FC-84A3-61E8AFD4D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7076E-94F4-FFD3-4904-CAEE7CE308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87983E-BEF0-D7F8-5057-FB5A2BB55A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900DEF-4F20-582E-470B-0189BAE21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DFEF5-D9AF-684F-9284-2048DA078B9E}" type="datetimeFigureOut">
              <a:rPr lang="de-AT" smtClean="0"/>
              <a:t>25.04.26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9F8963-6E0B-1537-9550-D78E93BB4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5B6AD8-0711-DA9F-A809-9A8AD211F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9939F-5E05-804A-AD0E-0E58DE276D6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50336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69423-A286-8746-4F99-6EC07AB08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39A5D2-90AC-2BCF-C4F7-370D936DD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64E4FA-054A-8038-8EC9-438D79B5A4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E13056-7922-0819-EFC4-6D142B245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B9A056-A7FA-6DC9-7A45-A42D8A5D67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0DDADE-D2FE-CBAC-99BB-F243B43DC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DFEF5-D9AF-684F-9284-2048DA078B9E}" type="datetimeFigureOut">
              <a:rPr lang="de-AT" smtClean="0"/>
              <a:t>25.04.26</a:t>
            </a:fld>
            <a:endParaRPr lang="de-A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7A094A-727D-6F2E-08D4-896173D73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F0F51A-A128-20BF-5C49-1B01B74F8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9939F-5E05-804A-AD0E-0E58DE276D6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426898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9ABFE-7DA8-EFE8-348F-0C60E5397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81460D-14F0-B295-EE7E-869FFBF15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DFEF5-D9AF-684F-9284-2048DA078B9E}" type="datetimeFigureOut">
              <a:rPr lang="de-AT" smtClean="0"/>
              <a:t>25.04.26</a:t>
            </a:fld>
            <a:endParaRPr lang="de-A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EBB674-31E6-E36C-4F5C-91396641E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5F9FE-4CD1-0FA5-F7FE-ED5AEF39C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9939F-5E05-804A-AD0E-0E58DE276D6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98081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98EEF6-E1A5-56B8-065E-6A0E82570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DFEF5-D9AF-684F-9284-2048DA078B9E}" type="datetimeFigureOut">
              <a:rPr lang="de-AT" smtClean="0"/>
              <a:t>25.04.26</a:t>
            </a:fld>
            <a:endParaRPr lang="de-A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047D5B-5C51-EB8C-C3A2-F5C5946D0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ADC96D-0271-F4E6-2704-70B0802E5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9939F-5E05-804A-AD0E-0E58DE276D6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15600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B4DCA-D817-2C53-28E6-31063C44C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B4AE6-706B-6A00-DF25-6E39C6EB8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BDEE9A-040E-3599-E5C1-58067ECFB1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94AED8-C3A7-8F20-4D92-E69223CE8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DFEF5-D9AF-684F-9284-2048DA078B9E}" type="datetimeFigureOut">
              <a:rPr lang="de-AT" smtClean="0"/>
              <a:t>25.04.26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87518C-7CB9-74F6-AEA1-B01E25A56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80A82B-E19F-5D6F-7023-5387DEBA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9939F-5E05-804A-AD0E-0E58DE276D6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91889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42806-E1B6-A7DE-5C70-948E5A23E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BCEB02-7EF7-6EF7-AA84-1D2E5E9ECF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D09136-3E65-8091-5463-009AE24FA3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6C1E93-0A8E-A91A-F5BC-FC85D3A61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DFEF5-D9AF-684F-9284-2048DA078B9E}" type="datetimeFigureOut">
              <a:rPr lang="de-AT" smtClean="0"/>
              <a:t>25.04.26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951ED1-47FA-A6DF-1FB8-48076A91F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0A690-16B7-A5F3-30F3-BACB767C1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9939F-5E05-804A-AD0E-0E58DE276D6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31354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4EB50-3D20-F3EA-EE70-B392EB6AB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E4E400-0363-F37B-B71C-E6391BDA01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F644E-0D9A-AA9B-2D9F-FCFA5CCBC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DFEF5-D9AF-684F-9284-2048DA078B9E}" type="datetimeFigureOut">
              <a:rPr lang="de-AT" smtClean="0"/>
              <a:t>25.04.26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7820E-38D5-BAD4-134A-04464C11E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D60C8-9212-BDAF-AE00-C7D724A74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9939F-5E05-804A-AD0E-0E58DE276D6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18399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5AE40E-3A14-D667-1ECB-60B1467B22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3DA026-5D84-FCA9-E4E4-2363CF8D6A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2AF57-E3B1-55AC-B964-29A7C2726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DFEF5-D9AF-684F-9284-2048DA078B9E}" type="datetimeFigureOut">
              <a:rPr lang="de-AT" smtClean="0"/>
              <a:t>25.04.26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56210-EF94-58E0-C1F2-05590B107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DDBD4-CA26-C4A1-41CD-74EB51B52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9939F-5E05-804A-AD0E-0E58DE276D6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89538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B87413-92FC-F983-9B64-32244A2A3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9908CE-E2BA-0789-EA64-E4D95A6AD6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8A345-3190-C13E-637B-B5A4415538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5DFEF5-D9AF-684F-9284-2048DA078B9E}" type="datetimeFigureOut">
              <a:rPr lang="de-AT" smtClean="0"/>
              <a:t>25.04.26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E7CF2-9C19-01EA-4122-AA8161A637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F00EA-FBAD-F92E-B6CB-845C3CB397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D9939F-5E05-804A-AD0E-0E58DE276D6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72120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9A6096-E0D6-2E15-8FB9-6E8CCF02F0C5}"/>
              </a:ext>
            </a:extLst>
          </p:cNvPr>
          <p:cNvSpPr txBox="1"/>
          <p:nvPr/>
        </p:nvSpPr>
        <p:spPr>
          <a:xfrm>
            <a:off x="355986" y="300146"/>
            <a:ext cx="9416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3200" b="1" dirty="0"/>
              <a:t>1. Terminologische Überarbeitungen am Frontend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C4EF68-4845-4955-C231-1A5ACE0D1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701" y="1479017"/>
            <a:ext cx="6845300" cy="177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B3F2BF-DBC8-2B85-E944-2E364993DCF0}"/>
              </a:ext>
            </a:extLst>
          </p:cNvPr>
          <p:cNvSpPr txBox="1"/>
          <p:nvPr/>
        </p:nvSpPr>
        <p:spPr>
          <a:xfrm>
            <a:off x="7538565" y="1549594"/>
            <a:ext cx="3287652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AT" dirty="0"/>
              <a:t>Terminologie zum Projekt muss überarbeitet werden; </a:t>
            </a:r>
          </a:p>
          <a:p>
            <a:r>
              <a:rPr lang="de-AT" dirty="0"/>
              <a:t>kein „Wiener Urkundenbuch“!</a:t>
            </a:r>
          </a:p>
          <a:p>
            <a:r>
              <a:rPr lang="de-AT" dirty="0"/>
              <a:t>Dasselbe gilt für alle Angaben „über das Projekt“.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4A79600-4770-2F3D-3419-04A5D9F01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701" y="3423860"/>
            <a:ext cx="7772400" cy="103891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2E7E248-F496-CD71-148B-115501909ECC}"/>
              </a:ext>
            </a:extLst>
          </p:cNvPr>
          <p:cNvSpPr txBox="1"/>
          <p:nvPr/>
        </p:nvSpPr>
        <p:spPr>
          <a:xfrm>
            <a:off x="8319178" y="3257017"/>
            <a:ext cx="3553031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AT" dirty="0"/>
              <a:t>Was sind hier “Quellen“ oder „Sammlungen“? Die Terminologie muss präzisiert werden.</a:t>
            </a:r>
            <a:br>
              <a:rPr lang="de-AT" dirty="0"/>
            </a:br>
            <a:r>
              <a:rPr lang="de-AT" dirty="0"/>
              <a:t>Außerdem handelt es sich um keine „Überlieferungslücke“; wenn, um eine Auswertungslücke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236024-4A8F-B398-A879-CB7D11F7B2DF}"/>
              </a:ext>
            </a:extLst>
          </p:cNvPr>
          <p:cNvSpPr txBox="1"/>
          <p:nvPr/>
        </p:nvSpPr>
        <p:spPr>
          <a:xfrm>
            <a:off x="355987" y="5541078"/>
            <a:ext cx="7098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>
                <a:solidFill>
                  <a:srgbClr val="FF0000"/>
                </a:solidFill>
              </a:rPr>
              <a:t>Ein allgemeines Glossar, dass aufrufbar oder mittels Mouse-Over für das gesamte Interface funktioniert, wäre sinnvoll</a:t>
            </a:r>
          </a:p>
        </p:txBody>
      </p:sp>
    </p:spTree>
    <p:extLst>
      <p:ext uri="{BB962C8B-B14F-4D97-AF65-F5344CB8AC3E}">
        <p14:creationId xmlns:p14="http://schemas.microsoft.com/office/powerpoint/2010/main" val="1132696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15798-7192-7034-4027-1EB43FAFA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D83D35-2C75-3F2A-0EF3-BC5E78934D10}"/>
              </a:ext>
            </a:extLst>
          </p:cNvPr>
          <p:cNvSpPr txBox="1"/>
          <p:nvPr/>
        </p:nvSpPr>
        <p:spPr>
          <a:xfrm>
            <a:off x="355986" y="300146"/>
            <a:ext cx="9416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3200" b="1" dirty="0"/>
              <a:t>1. Terminologische Überarbeitungen am Frontend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6611C7-A4B8-0714-515F-4211FA8B2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786" y="1295348"/>
            <a:ext cx="7772400" cy="9849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817BAD-E8DD-C14E-E0FF-F3F5F2B5A58F}"/>
              </a:ext>
            </a:extLst>
          </p:cNvPr>
          <p:cNvSpPr txBox="1"/>
          <p:nvPr/>
        </p:nvSpPr>
        <p:spPr>
          <a:xfrm>
            <a:off x="355986" y="2280314"/>
            <a:ext cx="10889038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AT" dirty="0"/>
              <a:t>Hier werden die bereits ausgewerteten Bestände gezeigt, besser wäre es, das in Relation zum Gesamtbestand anzuzeigen. </a:t>
            </a:r>
            <a:r>
              <a:rPr lang="de-AT" dirty="0" err="1"/>
              <a:t>Bsp</a:t>
            </a:r>
            <a:r>
              <a:rPr lang="de-AT" dirty="0"/>
              <a:t>: Grauer Balken im Hintergrund für alle Regesten, blauer Balken für bereits ausgewertete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4FEFDB9-DFC8-5BAE-1753-855DD933D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574" y="3064796"/>
            <a:ext cx="10951861" cy="86656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0AF48BF-E00E-84F2-495A-4553852A2101}"/>
              </a:ext>
            </a:extLst>
          </p:cNvPr>
          <p:cNvSpPr txBox="1"/>
          <p:nvPr/>
        </p:nvSpPr>
        <p:spPr>
          <a:xfrm>
            <a:off x="324575" y="4053261"/>
            <a:ext cx="1088903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AT" dirty="0"/>
              <a:t>Zum Glossar: solche Tabellen brauchen Mouse-Over Informationen zu den einzelnen Spalten; </a:t>
            </a:r>
            <a:br>
              <a:rPr lang="de-AT" dirty="0"/>
            </a:br>
            <a:r>
              <a:rPr lang="de-AT" dirty="0"/>
              <a:t>außerdem: warum füllt der </a:t>
            </a:r>
            <a:r>
              <a:rPr lang="de-AT" dirty="0" err="1"/>
              <a:t>Regestentext</a:t>
            </a:r>
            <a:r>
              <a:rPr lang="de-AT" dirty="0"/>
              <a:t> hier nicht die volle Breite des Formats?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EF5CEC4-A8E7-8F17-3477-53DC0ECBAA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573" y="4975340"/>
            <a:ext cx="10889038" cy="36756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67E1AAF-B9CF-1C60-FAA6-DA926BA404B6}"/>
              </a:ext>
            </a:extLst>
          </p:cNvPr>
          <p:cNvSpPr txBox="1"/>
          <p:nvPr/>
        </p:nvSpPr>
        <p:spPr>
          <a:xfrm>
            <a:off x="324573" y="5342902"/>
            <a:ext cx="10889038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AT" dirty="0"/>
              <a:t>Vgl. Tabelle zu Dokumenten: Mouse-Over essenziell für Kategorienbeschreibung</a:t>
            </a:r>
          </a:p>
          <a:p>
            <a:r>
              <a:rPr lang="de-AT" dirty="0"/>
              <a:t>„Tod“ hier irreführend, besser “als verstorben genannt“ </a:t>
            </a:r>
            <a:br>
              <a:rPr lang="de-AT" dirty="0"/>
            </a:br>
            <a:r>
              <a:rPr lang="de-AT" dirty="0"/>
              <a:t>„Q“ für Datenqualität für interne Checks nützlich, aber nicht für das öffentliche Frontend</a:t>
            </a:r>
          </a:p>
        </p:txBody>
      </p:sp>
    </p:spTree>
    <p:extLst>
      <p:ext uri="{BB962C8B-B14F-4D97-AF65-F5344CB8AC3E}">
        <p14:creationId xmlns:p14="http://schemas.microsoft.com/office/powerpoint/2010/main" val="549242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76BBA-F21A-E91C-462F-FCEF83BC3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3C75FF-2DB1-93D3-9A3E-74D89C3D62DC}"/>
              </a:ext>
            </a:extLst>
          </p:cNvPr>
          <p:cNvSpPr txBox="1"/>
          <p:nvPr/>
        </p:nvSpPr>
        <p:spPr>
          <a:xfrm>
            <a:off x="355986" y="300146"/>
            <a:ext cx="9416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3200" b="1" dirty="0"/>
              <a:t>1. Terminologische Überarbeitungen am Frontend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3D7BBC-7BF9-46C4-92DA-35428BA1D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986" y="884921"/>
            <a:ext cx="5657886" cy="58737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A0BEE47-D16B-41E8-D2E1-4D297332657F}"/>
              </a:ext>
            </a:extLst>
          </p:cNvPr>
          <p:cNvSpPr txBox="1"/>
          <p:nvPr/>
        </p:nvSpPr>
        <p:spPr>
          <a:xfrm>
            <a:off x="6353053" y="974508"/>
            <a:ext cx="5220039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AT" dirty="0"/>
              <a:t>Informationen über das Projekt / Statistik / Editionsrichtlinien sind strukturell ansehnlich aufbereitet, müssen aber inhaltlich überarbeitet werden. </a:t>
            </a:r>
          </a:p>
          <a:p>
            <a:endParaRPr lang="de-AT" dirty="0"/>
          </a:p>
          <a:p>
            <a:r>
              <a:rPr lang="de-AT" dirty="0"/>
              <a:t>Wenn überarbeitet, kann es als Grundlage für die Mouse-Over Informationen und das angedachte Glossar dienen.</a:t>
            </a:r>
          </a:p>
        </p:txBody>
      </p:sp>
    </p:spTree>
    <p:extLst>
      <p:ext uri="{BB962C8B-B14F-4D97-AF65-F5344CB8AC3E}">
        <p14:creationId xmlns:p14="http://schemas.microsoft.com/office/powerpoint/2010/main" val="2928415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AFA71-DECF-00DF-B332-80AC38731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E0A8D36-6542-6311-F4DB-C47CC9C844EE}"/>
              </a:ext>
            </a:extLst>
          </p:cNvPr>
          <p:cNvSpPr txBox="1"/>
          <p:nvPr/>
        </p:nvSpPr>
        <p:spPr>
          <a:xfrm>
            <a:off x="355986" y="300146"/>
            <a:ext cx="9416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3200" b="1" dirty="0"/>
              <a:t>2. Inhaltliche Probleme / Fehler im Frontend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25AADD-02C3-01C5-D402-67CE9EC65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986" y="982113"/>
            <a:ext cx="7772400" cy="17018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C43C42-351F-13D5-A8D9-A6B2C1AB6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986" y="2683955"/>
            <a:ext cx="7772400" cy="5103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FFD14CD-1596-F207-0F64-DC985F2227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986" y="3313677"/>
            <a:ext cx="7772400" cy="10740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0F30FEB-E8A4-159A-C338-7027631913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986" y="4361024"/>
            <a:ext cx="7772400" cy="23343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6DF7E22-2914-1755-601B-74F2340835E5}"/>
              </a:ext>
            </a:extLst>
          </p:cNvPr>
          <p:cNvSpPr txBox="1"/>
          <p:nvPr/>
        </p:nvSpPr>
        <p:spPr>
          <a:xfrm>
            <a:off x="8320342" y="974508"/>
            <a:ext cx="3252750" cy="56323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AT" b="1" dirty="0"/>
              <a:t>Zentralstes Problem:</a:t>
            </a:r>
          </a:p>
          <a:p>
            <a:endParaRPr lang="de-AT" dirty="0"/>
          </a:p>
          <a:p>
            <a:r>
              <a:rPr lang="de-AT" dirty="0"/>
              <a:t>Auffinden von Personen. </a:t>
            </a:r>
          </a:p>
          <a:p>
            <a:r>
              <a:rPr lang="de-AT" dirty="0"/>
              <a:t>Wie funktionieren die Suchleisten? </a:t>
            </a:r>
          </a:p>
          <a:p>
            <a:endParaRPr lang="de-AT" dirty="0"/>
          </a:p>
          <a:p>
            <a:r>
              <a:rPr lang="de-AT" dirty="0"/>
              <a:t>Beispiel: </a:t>
            </a:r>
          </a:p>
          <a:p>
            <a:r>
              <a:rPr lang="de-AT" dirty="0"/>
              <a:t>“Simon Pötel“ hat 0 Treffer in der Dokumentensuche, aber 40 Treffer in der Personensuche. </a:t>
            </a:r>
          </a:p>
          <a:p>
            <a:endParaRPr lang="de-AT" dirty="0"/>
          </a:p>
          <a:p>
            <a:r>
              <a:rPr lang="de-AT" dirty="0"/>
              <a:t>“Anna Pötlin“ (Simon Pötels 2. Frau) hat 1 Treffer in der Dokumentensuche und 3 in der Personensuche</a:t>
            </a:r>
          </a:p>
          <a:p>
            <a:endParaRPr lang="de-AT" dirty="0"/>
          </a:p>
          <a:p>
            <a:r>
              <a:rPr lang="de-AT" dirty="0"/>
              <a:t>Fallbeispiel - Regest, Nr. 3819:</a:t>
            </a:r>
          </a:p>
          <a:p>
            <a:r>
              <a:rPr lang="de-AT" dirty="0"/>
              <a:t>Beide sind genannt, Text auf nächster Folie</a:t>
            </a:r>
          </a:p>
        </p:txBody>
      </p:sp>
    </p:spTree>
    <p:extLst>
      <p:ext uri="{BB962C8B-B14F-4D97-AF65-F5344CB8AC3E}">
        <p14:creationId xmlns:p14="http://schemas.microsoft.com/office/powerpoint/2010/main" val="321923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B0338-317F-0454-8B07-57213133A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E23D40-E425-F615-AD5A-7FE8B26D5B50}"/>
              </a:ext>
            </a:extLst>
          </p:cNvPr>
          <p:cNvSpPr txBox="1"/>
          <p:nvPr/>
        </p:nvSpPr>
        <p:spPr>
          <a:xfrm>
            <a:off x="355986" y="300146"/>
            <a:ext cx="9416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3200" b="1" dirty="0"/>
              <a:t>2. Inhaltliche Probleme / Fehler im Frontend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19C0301-6846-361A-6389-87C4C6743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986" y="979768"/>
            <a:ext cx="8020197" cy="423250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480A8AD-4C5A-21AF-23CB-62659BAFCFCD}"/>
              </a:ext>
            </a:extLst>
          </p:cNvPr>
          <p:cNvSpPr/>
          <p:nvPr/>
        </p:nvSpPr>
        <p:spPr>
          <a:xfrm>
            <a:off x="1436821" y="1575924"/>
            <a:ext cx="734005" cy="1621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64B73-3857-7D4D-A19D-0C0B69C32AE4}"/>
              </a:ext>
            </a:extLst>
          </p:cNvPr>
          <p:cNvSpPr/>
          <p:nvPr/>
        </p:nvSpPr>
        <p:spPr>
          <a:xfrm>
            <a:off x="3397081" y="1738057"/>
            <a:ext cx="581607" cy="1605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9DE1FB-78D3-177C-175F-EE0B61D43212}"/>
              </a:ext>
            </a:extLst>
          </p:cNvPr>
          <p:cNvSpPr txBox="1"/>
          <p:nvPr/>
        </p:nvSpPr>
        <p:spPr>
          <a:xfrm>
            <a:off x="355986" y="5324232"/>
            <a:ext cx="10889038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AT" dirty="0"/>
              <a:t>Kernfrage: Wonach wird in den Suchleisten gesucht? Personen IDs, Fließtext, </a:t>
            </a:r>
            <a:r>
              <a:rPr lang="de-AT" dirty="0" err="1"/>
              <a:t>etc</a:t>
            </a:r>
            <a:r>
              <a:rPr lang="de-AT" dirty="0"/>
              <a:t>??</a:t>
            </a:r>
          </a:p>
          <a:p>
            <a:endParaRPr lang="de-AT" dirty="0"/>
          </a:p>
          <a:p>
            <a:r>
              <a:rPr lang="de-AT" dirty="0"/>
              <a:t>“Anna Pötlin“ wird hier sowohl über die Dokument- als auch die Personensuche gefunden (obwohl sie im Fließtext als „Simon Pötlin“ geschrieben wird). „Simon </a:t>
            </a:r>
            <a:r>
              <a:rPr lang="de-AT" dirty="0" err="1"/>
              <a:t>Pötel</a:t>
            </a:r>
            <a:r>
              <a:rPr lang="de-AT" dirty="0"/>
              <a:t>“, so im Fließtext als auch in der ID genannt, wird nur über die Personensuche gefunden. </a:t>
            </a:r>
          </a:p>
        </p:txBody>
      </p:sp>
    </p:spTree>
    <p:extLst>
      <p:ext uri="{BB962C8B-B14F-4D97-AF65-F5344CB8AC3E}">
        <p14:creationId xmlns:p14="http://schemas.microsoft.com/office/powerpoint/2010/main" val="1133314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A200A-DE7F-4B05-93AC-FEBD5ED00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3173C41-2601-0844-099B-63BE73936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010" y="830638"/>
            <a:ext cx="6380223" cy="58108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87E58D4-F514-A2CA-8B2C-8C91932FFA7C}"/>
              </a:ext>
            </a:extLst>
          </p:cNvPr>
          <p:cNvSpPr txBox="1"/>
          <p:nvPr/>
        </p:nvSpPr>
        <p:spPr>
          <a:xfrm>
            <a:off x="355986" y="300146"/>
            <a:ext cx="9416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3200" b="1" dirty="0"/>
              <a:t>2. Inhaltliche Probleme / Fehler im Frontend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977C09-2ECC-3326-00E6-271FC2AC8F62}"/>
              </a:ext>
            </a:extLst>
          </p:cNvPr>
          <p:cNvSpPr/>
          <p:nvPr/>
        </p:nvSpPr>
        <p:spPr>
          <a:xfrm>
            <a:off x="5435286" y="884921"/>
            <a:ext cx="204677" cy="2319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3DA4F8-C036-A93B-9624-ED823C6C745D}"/>
              </a:ext>
            </a:extLst>
          </p:cNvPr>
          <p:cNvSpPr/>
          <p:nvPr/>
        </p:nvSpPr>
        <p:spPr>
          <a:xfrm>
            <a:off x="355986" y="4653040"/>
            <a:ext cx="6286904" cy="19048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FF3AA2-F634-216D-0AC8-F36D68AA9713}"/>
              </a:ext>
            </a:extLst>
          </p:cNvPr>
          <p:cNvSpPr txBox="1"/>
          <p:nvPr/>
        </p:nvSpPr>
        <p:spPr>
          <a:xfrm>
            <a:off x="7312949" y="1116824"/>
            <a:ext cx="325275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AT" dirty="0"/>
              <a:t>“</a:t>
            </a:r>
            <a:r>
              <a:rPr lang="de-AT" dirty="0" err="1"/>
              <a:t>Factoids</a:t>
            </a:r>
            <a:r>
              <a:rPr lang="de-AT" dirty="0"/>
              <a:t>“ Button ist an sich eine gute Idee, aber hier die falsche Bezeichnung für das, was de facto dargestellt wird.</a:t>
            </a:r>
          </a:p>
        </p:txBody>
      </p:sp>
    </p:spTree>
    <p:extLst>
      <p:ext uri="{BB962C8B-B14F-4D97-AF65-F5344CB8AC3E}">
        <p14:creationId xmlns:p14="http://schemas.microsoft.com/office/powerpoint/2010/main" val="3767674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0C05C-6277-415B-B904-B14FECB52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DD7E9C7-D42D-538B-3A24-82B5157BB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912" y="884921"/>
            <a:ext cx="6317254" cy="57534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B222E0-D242-1FC4-C3F0-B83FC6115919}"/>
              </a:ext>
            </a:extLst>
          </p:cNvPr>
          <p:cNvSpPr txBox="1"/>
          <p:nvPr/>
        </p:nvSpPr>
        <p:spPr>
          <a:xfrm>
            <a:off x="355986" y="300146"/>
            <a:ext cx="9416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3200" b="1" dirty="0"/>
              <a:t>2. Inhaltliche Probleme / Fehler im Frontend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F75EBD-D29F-C391-2451-5FAAAAE0A1B9}"/>
              </a:ext>
            </a:extLst>
          </p:cNvPr>
          <p:cNvSpPr txBox="1"/>
          <p:nvPr/>
        </p:nvSpPr>
        <p:spPr>
          <a:xfrm>
            <a:off x="7347849" y="1040043"/>
            <a:ext cx="4371827" cy="424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AT" dirty="0"/>
              <a:t>Parallel zu dieser „Regesten-View“</a:t>
            </a:r>
          </a:p>
          <a:p>
            <a:r>
              <a:rPr lang="de-AT" dirty="0"/>
              <a:t>muss es auch eine „Person-View“ geben. </a:t>
            </a:r>
            <a:br>
              <a:rPr lang="de-AT" dirty="0"/>
            </a:br>
            <a:br>
              <a:rPr lang="de-AT" dirty="0"/>
            </a:br>
            <a:r>
              <a:rPr lang="de-AT" dirty="0"/>
              <a:t>So, wie es gerade möglich ist, alle Infos zu einzelnen Regesten anzuzeigen, sollte das auch für einzelne Entitäten möglich sein. </a:t>
            </a:r>
          </a:p>
          <a:p>
            <a:endParaRPr lang="de-AT" dirty="0"/>
          </a:p>
          <a:p>
            <a:r>
              <a:rPr lang="de-AT" dirty="0"/>
              <a:t>Jede Entität braucht also ein eigenes Profil, das sowohl auf alle Regesten verlinkt, als auch auf alle Beziehungen in der Datenbank ausgewiesen ist. </a:t>
            </a:r>
          </a:p>
          <a:p>
            <a:r>
              <a:rPr lang="de-AT" dirty="0"/>
              <a:t>Vgl. das Beispiel Simon Pötel / Anna Pötlin </a:t>
            </a:r>
          </a:p>
          <a:p>
            <a:r>
              <a:rPr lang="de-AT" dirty="0"/>
              <a:t>- ihre Verwandtschaftsbeziehung ist ausgewiesen, aber im Frontend nicht einsehbar.</a:t>
            </a:r>
          </a:p>
        </p:txBody>
      </p:sp>
    </p:spTree>
    <p:extLst>
      <p:ext uri="{BB962C8B-B14F-4D97-AF65-F5344CB8AC3E}">
        <p14:creationId xmlns:p14="http://schemas.microsoft.com/office/powerpoint/2010/main" val="2660973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4FD41-5B34-E5FF-D91E-5FF93485D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FB6B08-9E35-0F9D-8ED1-6CEF2C6D7A22}"/>
              </a:ext>
            </a:extLst>
          </p:cNvPr>
          <p:cNvSpPr txBox="1"/>
          <p:nvPr/>
        </p:nvSpPr>
        <p:spPr>
          <a:xfrm>
            <a:off x="355986" y="300146"/>
            <a:ext cx="9416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3200" b="1" dirty="0"/>
              <a:t>2. Inhaltliche Probleme / Fehler im Frontend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A90B5C-77E8-9F3D-637A-A9C594416BB8}"/>
              </a:ext>
            </a:extLst>
          </p:cNvPr>
          <p:cNvSpPr txBox="1"/>
          <p:nvPr/>
        </p:nvSpPr>
        <p:spPr>
          <a:xfrm>
            <a:off x="8201679" y="1040043"/>
            <a:ext cx="3517997" cy="61863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AT" dirty="0">
                <a:solidFill>
                  <a:schemeClr val="bg2">
                    <a:lumMod val="75000"/>
                  </a:schemeClr>
                </a:solidFill>
              </a:rPr>
              <a:t>Jede Entität braucht also ein eigenes Profil, das sowohl auf alle Regesten verlinkt, als auch auf alle Beziehungen in der Datenbank ausgewiesen ist. </a:t>
            </a:r>
          </a:p>
          <a:p>
            <a:r>
              <a:rPr lang="de-AT" dirty="0">
                <a:solidFill>
                  <a:schemeClr val="bg2">
                    <a:lumMod val="75000"/>
                  </a:schemeClr>
                </a:solidFill>
              </a:rPr>
              <a:t>Vgl. das Beispiel Simon </a:t>
            </a:r>
            <a:r>
              <a:rPr lang="de-AT" dirty="0" err="1">
                <a:solidFill>
                  <a:schemeClr val="bg2">
                    <a:lumMod val="75000"/>
                  </a:schemeClr>
                </a:solidFill>
              </a:rPr>
              <a:t>Pötel</a:t>
            </a:r>
            <a:r>
              <a:rPr lang="de-AT" dirty="0">
                <a:solidFill>
                  <a:schemeClr val="bg2">
                    <a:lumMod val="75000"/>
                  </a:schemeClr>
                </a:solidFill>
              </a:rPr>
              <a:t> / Anna </a:t>
            </a:r>
            <a:r>
              <a:rPr lang="de-AT" dirty="0" err="1">
                <a:solidFill>
                  <a:schemeClr val="bg2">
                    <a:lumMod val="75000"/>
                  </a:schemeClr>
                </a:solidFill>
              </a:rPr>
              <a:t>Pötlin</a:t>
            </a:r>
            <a:r>
              <a:rPr lang="de-AT" dirty="0">
                <a:solidFill>
                  <a:schemeClr val="bg2">
                    <a:lumMod val="75000"/>
                  </a:schemeClr>
                </a:solidFill>
              </a:rPr>
              <a:t> </a:t>
            </a:r>
          </a:p>
          <a:p>
            <a:r>
              <a:rPr lang="de-AT" dirty="0">
                <a:solidFill>
                  <a:schemeClr val="bg2">
                    <a:lumMod val="75000"/>
                  </a:schemeClr>
                </a:solidFill>
              </a:rPr>
              <a:t>- ihre Verwandtschaftsbeziehung ist ausgewiesen, aber im Frontend nicht einsehbar.</a:t>
            </a:r>
          </a:p>
          <a:p>
            <a:endParaRPr lang="de-AT" dirty="0"/>
          </a:p>
          <a:p>
            <a:r>
              <a:rPr lang="de-AT" dirty="0"/>
              <a:t>Anstatt bei einer Suche nur alle Nennungen über alle </a:t>
            </a:r>
            <a:r>
              <a:rPr lang="de-AT" b="1" dirty="0"/>
              <a:t>freigegebenen</a:t>
            </a:r>
            <a:r>
              <a:rPr lang="de-AT" dirty="0"/>
              <a:t> Korpora anzuzeigen, sollte es hier ein eigenes Interface geben, das strukturiert alle Informationen zu den Entitäten (hier Simon Pötel) anzeigt.</a:t>
            </a:r>
          </a:p>
          <a:p>
            <a:r>
              <a:rPr lang="de-AT" dirty="0" err="1"/>
              <a:t>z.B</a:t>
            </a:r>
            <a:r>
              <a:rPr lang="de-AT" dirty="0"/>
              <a:t>: verschiede Schreibungen, Beziehungen, etc.</a:t>
            </a:r>
          </a:p>
          <a:p>
            <a:endParaRPr lang="de-AT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69E955-EAAB-D1E7-EEC2-701B912BC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986" y="959154"/>
            <a:ext cx="7772400" cy="4409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51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9023D-3F8E-7A6B-B854-FE0244192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83F17F-760A-7054-A244-85DCB0C3CAE0}"/>
              </a:ext>
            </a:extLst>
          </p:cNvPr>
          <p:cNvSpPr txBox="1"/>
          <p:nvPr/>
        </p:nvSpPr>
        <p:spPr>
          <a:xfrm>
            <a:off x="355986" y="300146"/>
            <a:ext cx="9416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3200" b="1" dirty="0"/>
              <a:t>2. </a:t>
            </a:r>
            <a:r>
              <a:rPr lang="de-AT" sz="3200" b="1"/>
              <a:t>Inhaltliche </a:t>
            </a:r>
            <a:r>
              <a:rPr lang="de-AT" sz="3200" b="1" dirty="0"/>
              <a:t>Probleme / Fehler im Frontend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D05DA4-6E3C-4EBD-49F0-87C0CD72443E}"/>
              </a:ext>
            </a:extLst>
          </p:cNvPr>
          <p:cNvSpPr txBox="1"/>
          <p:nvPr/>
        </p:nvSpPr>
        <p:spPr>
          <a:xfrm>
            <a:off x="7347849" y="1040043"/>
            <a:ext cx="4371827" cy="4524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AT" dirty="0"/>
              <a:t>In der Personen Liste des </a:t>
            </a:r>
            <a:r>
              <a:rPr lang="de-AT" dirty="0" err="1"/>
              <a:t>Frontends</a:t>
            </a:r>
            <a:r>
              <a:rPr lang="de-AT" dirty="0"/>
              <a:t> dürfen nur Personen aufscheinen, die zumindest in einem der geprüften Korpora (QGW, </a:t>
            </a:r>
            <a:r>
              <a:rPr lang="de-AT" dirty="0" err="1"/>
              <a:t>Stb</a:t>
            </a:r>
            <a:r>
              <a:rPr lang="de-AT" dirty="0"/>
              <a:t>) aufscheinen. </a:t>
            </a:r>
          </a:p>
          <a:p>
            <a:endParaRPr lang="de-AT" dirty="0"/>
          </a:p>
          <a:p>
            <a:r>
              <a:rPr lang="de-AT" dirty="0"/>
              <a:t>Personen / Nennungen in nicht geprüften Korpora dürfen nicht in Auswertungen, Gesamtzahlen, etc. miteingerechnet werden!</a:t>
            </a:r>
          </a:p>
          <a:p>
            <a:endParaRPr lang="de-AT" dirty="0"/>
          </a:p>
          <a:p>
            <a:r>
              <a:rPr lang="de-AT" dirty="0"/>
              <a:t>In der Personen Liste des </a:t>
            </a:r>
            <a:r>
              <a:rPr lang="de-AT" dirty="0" err="1"/>
              <a:t>Frontends</a:t>
            </a:r>
            <a:r>
              <a:rPr lang="de-AT" dirty="0"/>
              <a:t> sollten auch keine Personen genannt sein, die in 0 Dokumenten aufscheinen, </a:t>
            </a:r>
          </a:p>
          <a:p>
            <a:r>
              <a:rPr lang="de-AT" dirty="0"/>
              <a:t>Etwa „Aaron der Jude“ . Hier ist auf Datenbasis zu klären, was genau angezeigt wird.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5AB8CD-A4C3-991B-633E-8DA57F742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986" y="1034808"/>
            <a:ext cx="6714909" cy="376977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0D877D3-D41E-9812-523F-2365CB7B68B2}"/>
              </a:ext>
            </a:extLst>
          </p:cNvPr>
          <p:cNvSpPr/>
          <p:nvPr/>
        </p:nvSpPr>
        <p:spPr>
          <a:xfrm flipV="1">
            <a:off x="355986" y="3451684"/>
            <a:ext cx="6666048" cy="2268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5DFB61-3240-47AE-4397-97C51FC416AF}"/>
              </a:ext>
            </a:extLst>
          </p:cNvPr>
          <p:cNvSpPr/>
          <p:nvPr/>
        </p:nvSpPr>
        <p:spPr>
          <a:xfrm flipV="1">
            <a:off x="404847" y="4476602"/>
            <a:ext cx="6617187" cy="3279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26874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81DAE-445C-5B26-64A9-FF4C3D1A3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DAD262-086E-3A5C-370F-AA7D543FD4D9}"/>
              </a:ext>
            </a:extLst>
          </p:cNvPr>
          <p:cNvSpPr txBox="1"/>
          <p:nvPr/>
        </p:nvSpPr>
        <p:spPr>
          <a:xfrm>
            <a:off x="355986" y="300146"/>
            <a:ext cx="9416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3200" b="1" dirty="0"/>
              <a:t>2. </a:t>
            </a:r>
            <a:r>
              <a:rPr lang="de-AT" sz="3200" b="1"/>
              <a:t>Inhaltliche </a:t>
            </a:r>
            <a:r>
              <a:rPr lang="de-AT" sz="3200" b="1" dirty="0"/>
              <a:t>Probleme / Fehler im Frontend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B6DC95-8EDE-A510-62A8-105F8206B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985" y="884920"/>
            <a:ext cx="10854697" cy="272021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13E27B2-0C0A-2D5E-875E-B864BF25AB57}"/>
              </a:ext>
            </a:extLst>
          </p:cNvPr>
          <p:cNvSpPr/>
          <p:nvPr/>
        </p:nvSpPr>
        <p:spPr>
          <a:xfrm>
            <a:off x="876925" y="3095469"/>
            <a:ext cx="9571219" cy="509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9F9416-D192-DD5F-AC6F-CF44E830649C}"/>
              </a:ext>
            </a:extLst>
          </p:cNvPr>
          <p:cNvSpPr txBox="1"/>
          <p:nvPr/>
        </p:nvSpPr>
        <p:spPr>
          <a:xfrm>
            <a:off x="355985" y="3702569"/>
            <a:ext cx="1088903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AT" dirty="0"/>
              <a:t>Nicht alle dieser Korpora sind bereits geprüft!</a:t>
            </a:r>
          </a:p>
          <a:p>
            <a:r>
              <a:rPr lang="de-AT" dirty="0"/>
              <a:t>Im öffentlichen Frontend dürfen nur die final geprüften Bestände angezeigt werden, ebenso dürfen für statistische Auswertungen nur jene Nennungen von Personen gezählt werden, die in diesen geprüften Beständen genannt werden!</a:t>
            </a:r>
          </a:p>
        </p:txBody>
      </p:sp>
    </p:spTree>
    <p:extLst>
      <p:ext uri="{BB962C8B-B14F-4D97-AF65-F5344CB8AC3E}">
        <p14:creationId xmlns:p14="http://schemas.microsoft.com/office/powerpoint/2010/main" val="309652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14D69-CC24-E456-F869-01F5EA4C2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1CA3DF-00F9-C5FF-2C87-47B869809CE2}"/>
              </a:ext>
            </a:extLst>
          </p:cNvPr>
          <p:cNvSpPr txBox="1"/>
          <p:nvPr/>
        </p:nvSpPr>
        <p:spPr>
          <a:xfrm>
            <a:off x="355986" y="300146"/>
            <a:ext cx="112688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3200" b="1" dirty="0"/>
              <a:t>2.5. Kategorie Exploration: Orte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D98675-7DE6-0C1F-BA1E-FFBB95694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986" y="995070"/>
            <a:ext cx="7577316" cy="42364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66BE604-A186-DF60-B639-7D76C51036CB}"/>
              </a:ext>
            </a:extLst>
          </p:cNvPr>
          <p:cNvSpPr txBox="1"/>
          <p:nvPr/>
        </p:nvSpPr>
        <p:spPr>
          <a:xfrm>
            <a:off x="8234291" y="1055372"/>
            <a:ext cx="3517997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AT" dirty="0"/>
              <a:t>Diese Art der Auswertung ist einstweilen noch nicht möglich. </a:t>
            </a:r>
          </a:p>
          <a:p>
            <a:r>
              <a:rPr lang="de-AT" dirty="0"/>
              <a:t>Die Daten sind noch nicht systematisch erfasst.</a:t>
            </a:r>
          </a:p>
          <a:p>
            <a:r>
              <a:rPr lang="de-AT" dirty="0"/>
              <a:t>Nebenbei: “Siedlungskarte“ lädt nicht.</a:t>
            </a:r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129286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31F78-CD77-ABC8-3980-91FA5A22C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808D86E-A69F-CCC2-2344-C7B0C102A404}"/>
              </a:ext>
            </a:extLst>
          </p:cNvPr>
          <p:cNvSpPr txBox="1"/>
          <p:nvPr/>
        </p:nvSpPr>
        <p:spPr>
          <a:xfrm>
            <a:off x="355986" y="300146"/>
            <a:ext cx="112688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3200" b="1" dirty="0"/>
              <a:t>2.5. Kategorie Exploration: Transaktion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C5BDD5-0492-3717-3FBE-26414BF1380F}"/>
              </a:ext>
            </a:extLst>
          </p:cNvPr>
          <p:cNvSpPr txBox="1"/>
          <p:nvPr/>
        </p:nvSpPr>
        <p:spPr>
          <a:xfrm>
            <a:off x="6885177" y="1017896"/>
            <a:ext cx="4005177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AT" dirty="0"/>
              <a:t>Diese Art der Auswertung ist einstweilen noch nicht möglich. </a:t>
            </a:r>
          </a:p>
          <a:p>
            <a:r>
              <a:rPr lang="de-AT" dirty="0"/>
              <a:t>Die Daten sind noch nicht systematisch erfasst.</a:t>
            </a:r>
          </a:p>
          <a:p>
            <a:endParaRPr lang="de-AT" dirty="0"/>
          </a:p>
          <a:p>
            <a:r>
              <a:rPr lang="de-AT" dirty="0"/>
              <a:t>Auch der „Verb-Browser“ ist in seiner derzeitigen Form noch zu kleinteilig, um ihn öffentlich schalten zu können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00D994-6CF9-9FF2-9B65-D7CDF6DDC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712" y="866750"/>
            <a:ext cx="4806845" cy="5691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C6035EC-A977-57E6-9E96-3EB9C7B99062}"/>
              </a:ext>
            </a:extLst>
          </p:cNvPr>
          <p:cNvSpPr/>
          <p:nvPr/>
        </p:nvSpPr>
        <p:spPr>
          <a:xfrm>
            <a:off x="439712" y="3192905"/>
            <a:ext cx="2408419" cy="35076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4265953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829</Words>
  <Application>Microsoft Macintosh PowerPoint</Application>
  <PresentationFormat>Breitbild</PresentationFormat>
  <Paragraphs>75</Paragraphs>
  <Slides>12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Maximilian Steinböck</dc:creator>
  <cp:lastModifiedBy>Microsoft Office-Benutzer</cp:lastModifiedBy>
  <cp:revision>21</cp:revision>
  <dcterms:created xsi:type="dcterms:W3CDTF">2026-04-23T07:32:45Z</dcterms:created>
  <dcterms:modified xsi:type="dcterms:W3CDTF">2026-04-25T11:18:47Z</dcterms:modified>
</cp:coreProperties>
</file>